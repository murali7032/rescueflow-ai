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52371a0de45a3" /><Relationship Type="http://schemas.openxmlformats.org/officeDocument/2006/relationships/extended-properties" Target="/docProps/app.xml" Id="R6aff11bec3ef4610" /><Relationship Type="http://schemas.openxmlformats.org/officeDocument/2006/relationships/officeDocument" Target="/ppt/presentation.xml" Id="R21b096e3755d4e4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c94f7e8d5154572"/>
  </p:sldMasterIdLst>
  <p:notesMasterIdLst>
    <p:notesMasterId xmlns:r="http://schemas.openxmlformats.org/officeDocument/2006/relationships" r:id="R311ff0adfd0d4959"/>
  </p:notesMasterIdLst>
  <p:sldIdLst>
    <p:sldId xmlns:r="http://schemas.openxmlformats.org/officeDocument/2006/relationships" id="256" r:id="Rd4480dfb0fa5455c"/>
    <p:sldId xmlns:r="http://schemas.openxmlformats.org/officeDocument/2006/relationships" id="257" r:id="R0ea5fa86435f43cf"/>
    <p:sldId xmlns:r="http://schemas.openxmlformats.org/officeDocument/2006/relationships" id="258" r:id="R5169d53f6dc5415e"/>
    <p:sldId xmlns:r="http://schemas.openxmlformats.org/officeDocument/2006/relationships" id="259" r:id="R426019aed0274663"/>
    <p:sldId xmlns:r="http://schemas.openxmlformats.org/officeDocument/2006/relationships" id="260" r:id="Ra899f0466e974111"/>
    <p:sldId xmlns:r="http://schemas.openxmlformats.org/officeDocument/2006/relationships" id="261" r:id="R2b4911680a094815"/>
    <p:sldId xmlns:r="http://schemas.openxmlformats.org/officeDocument/2006/relationships" id="262" r:id="Rad2b6b9cd96042a9"/>
    <p:sldId xmlns:r="http://schemas.openxmlformats.org/officeDocument/2006/relationships" id="263" r:id="Rb68329ce093d449d"/>
    <p:sldId xmlns:r="http://schemas.openxmlformats.org/officeDocument/2006/relationships" id="264" r:id="R976a8da8e80a45cd"/>
    <p:sldId xmlns:r="http://schemas.openxmlformats.org/officeDocument/2006/relationships" id="265" r:id="R64e2905dd7e54cf9"/>
    <p:sldId xmlns:r="http://schemas.openxmlformats.org/officeDocument/2006/relationships" id="266" r:id="R024fd4c8eb45419a"/>
    <p:sldId xmlns:r="http://schemas.openxmlformats.org/officeDocument/2006/relationships" id="267" r:id="Raf924b2d06f14e97"/>
    <p:sldId xmlns:r="http://schemas.openxmlformats.org/officeDocument/2006/relationships" id="268" r:id="R3e3630b7cb3f40bc"/>
    <p:sldId xmlns:r="http://schemas.openxmlformats.org/officeDocument/2006/relationships" id="269" r:id="Ra5731926323843a4"/>
    <p:sldId xmlns:r="http://schemas.openxmlformats.org/officeDocument/2006/relationships" id="270" r:id="R4d60467d4e86492f"/>
    <p:sldId xmlns:r="http://schemas.openxmlformats.org/officeDocument/2006/relationships" id="271" r:id="R8b40dd7ab1f74447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8cd35a694d5248e9"/>
      <p:bold xmlns:r="http://schemas.openxmlformats.org/officeDocument/2006/relationships" r:id="Rd210a81d3eb94ec3"/>
    </p:embeddedFont>
    <p:embeddedFont>
      <p:font typeface="Google Sans Flex"/>
      <p:regular xmlns:r="http://schemas.openxmlformats.org/officeDocument/2006/relationships" r:id="Rc72abb268e154730"/>
      <p:bold xmlns:r="http://schemas.openxmlformats.org/officeDocument/2006/relationships" r:id="R73feac40984847d4"/>
    </p:embeddedFont>
    <p:embeddedFont>
      <p:font typeface="Google Sans Flex SemiBold"/>
      <p:regular xmlns:r="http://schemas.openxmlformats.org/officeDocument/2006/relationships" r:id="Rfec04ae30c7a4e84"/>
      <p:bold xmlns:r="http://schemas.openxmlformats.org/officeDocument/2006/relationships" r:id="Ra2ba8105047641d4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f2c38a26de444a" /><Relationship Type="http://schemas.openxmlformats.org/officeDocument/2006/relationships/slideMaster" Target="/ppt/slideMasters/slideMaster1.xml" Id="Rac94f7e8d5154572" /><Relationship Type="http://schemas.openxmlformats.org/officeDocument/2006/relationships/notesMaster" Target="/ppt/notesMasters/notesMaster1.xml" Id="R311ff0adfd0d4959" /><Relationship Type="http://schemas.openxmlformats.org/officeDocument/2006/relationships/presProps" Target="/ppt/presProps.xml" Id="R02783c16825d4be3" /><Relationship Type="http://schemas.openxmlformats.org/officeDocument/2006/relationships/viewProps" Target="/ppt/viewProps.xml" Id="R37103a31a19f4354" /><Relationship Type="http://schemas.openxmlformats.org/officeDocument/2006/relationships/tableStyles" Target="/ppt/tableStyles.xml" Id="R127780d05f8d4397" /><Relationship Type="http://schemas.openxmlformats.org/officeDocument/2006/relationships/font" Target="/ppt/fonts/font.dat" Id="R8cd35a694d5248e9" /><Relationship Type="http://schemas.openxmlformats.org/officeDocument/2006/relationships/font" Target="/ppt/fonts/font2.dat" Id="Rd210a81d3eb94ec3" /><Relationship Type="http://schemas.openxmlformats.org/officeDocument/2006/relationships/font" Target="/ppt/fonts/font3.dat" Id="Rc72abb268e154730" /><Relationship Type="http://schemas.openxmlformats.org/officeDocument/2006/relationships/font" Target="/ppt/fonts/font4.dat" Id="R73feac40984847d4" /><Relationship Type="http://schemas.openxmlformats.org/officeDocument/2006/relationships/font" Target="/ppt/fonts/font5.dat" Id="Rfec04ae30c7a4e84" /><Relationship Type="http://schemas.openxmlformats.org/officeDocument/2006/relationships/font" Target="/ppt/fonts/font6.dat" Id="Ra2ba8105047641d4" /><Relationship Type="http://schemas.openxmlformats.org/officeDocument/2006/relationships/slide" Target="/ppt/slides/slide1.xml" Id="Rd4480dfb0fa5455c" /><Relationship Type="http://schemas.openxmlformats.org/officeDocument/2006/relationships/slide" Target="/ppt/slides/slide2.xml" Id="R0ea5fa86435f43cf" /><Relationship Type="http://schemas.openxmlformats.org/officeDocument/2006/relationships/slide" Target="/ppt/slides/slide3.xml" Id="R5169d53f6dc5415e" /><Relationship Type="http://schemas.openxmlformats.org/officeDocument/2006/relationships/slide" Target="/ppt/slides/slide4.xml" Id="R426019aed0274663" /><Relationship Type="http://schemas.openxmlformats.org/officeDocument/2006/relationships/slide" Target="/ppt/slides/slide5.xml" Id="Ra899f0466e974111" /><Relationship Type="http://schemas.openxmlformats.org/officeDocument/2006/relationships/slide" Target="/ppt/slides/slide6.xml" Id="R2b4911680a094815" /><Relationship Type="http://schemas.openxmlformats.org/officeDocument/2006/relationships/slide" Target="/ppt/slides/slide7.xml" Id="Rad2b6b9cd96042a9" /><Relationship Type="http://schemas.openxmlformats.org/officeDocument/2006/relationships/slide" Target="/ppt/slides/slide8.xml" Id="Rb68329ce093d449d" /><Relationship Type="http://schemas.openxmlformats.org/officeDocument/2006/relationships/slide" Target="/ppt/slides/slide9.xml" Id="R976a8da8e80a45cd" /><Relationship Type="http://schemas.openxmlformats.org/officeDocument/2006/relationships/slide" Target="/ppt/slides/slide10.xml" Id="R64e2905dd7e54cf9" /><Relationship Type="http://schemas.openxmlformats.org/officeDocument/2006/relationships/slide" Target="/ppt/slides/slide11.xml" Id="R024fd4c8eb45419a" /><Relationship Type="http://schemas.openxmlformats.org/officeDocument/2006/relationships/slide" Target="/ppt/slides/slide12.xml" Id="Raf924b2d06f14e97" /><Relationship Type="http://schemas.openxmlformats.org/officeDocument/2006/relationships/slide" Target="/ppt/slides/slide13.xml" Id="R3e3630b7cb3f40bc" /><Relationship Type="http://schemas.openxmlformats.org/officeDocument/2006/relationships/slide" Target="/ppt/slides/slide14.xml" Id="Ra5731926323843a4" /><Relationship Type="http://schemas.openxmlformats.org/officeDocument/2006/relationships/slide" Target="/ppt/slides/slide15.xml" Id="R4d60467d4e86492f" /><Relationship Type="http://schemas.openxmlformats.org/officeDocument/2006/relationships/slide" Target="/ppt/slides/slide16.xml" Id="R8b40dd7ab1f7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ac94468fe2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d7225a20448d9" /><Relationship Type="http://schemas.openxmlformats.org/officeDocument/2006/relationships/notesMaster" Target="/ppt/notesMasters/notesMaster1.xml" Id="R886e2e8ddc3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d47bedb55b458b" /><Relationship Type="http://schemas.openxmlformats.org/officeDocument/2006/relationships/notesMaster" Target="/ppt/notesMasters/notesMaster1.xml" Id="Rb57bcad2e477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ac638486440d5" /><Relationship Type="http://schemas.openxmlformats.org/officeDocument/2006/relationships/notesMaster" Target="/ppt/notesMasters/notesMaster1.xml" Id="R2b65544a74ee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0390a6ced64d3d" /><Relationship Type="http://schemas.openxmlformats.org/officeDocument/2006/relationships/notesMaster" Target="/ppt/notesMasters/notesMaster1.xml" Id="Ra4002916ccb445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64889da3444a3" /><Relationship Type="http://schemas.openxmlformats.org/officeDocument/2006/relationships/notesMaster" Target="/ppt/notesMasters/notesMaster1.xml" Id="Rdc6881fb3671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28cece3aab4da3" /><Relationship Type="http://schemas.openxmlformats.org/officeDocument/2006/relationships/notesMaster" Target="/ppt/notesMasters/notesMaster1.xml" Id="R9b537fef8cce47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37c15c3084d95" /><Relationship Type="http://schemas.openxmlformats.org/officeDocument/2006/relationships/notesMaster" Target="/ppt/notesMasters/notesMaster1.xml" Id="R7e2f4557d38f40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4b174b43347dc" /><Relationship Type="http://schemas.openxmlformats.org/officeDocument/2006/relationships/notesMaster" Target="/ppt/notesMasters/notesMaster1.xml" Id="Ra97cf39b806844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f28d0177f74695" /><Relationship Type="http://schemas.openxmlformats.org/officeDocument/2006/relationships/notesMaster" Target="/ppt/notesMasters/notesMaster1.xml" Id="Re66d5e7be2aa4b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61b5110a004113" /><Relationship Type="http://schemas.openxmlformats.org/officeDocument/2006/relationships/notesMaster" Target="/ppt/notesMasters/notesMaster1.xml" Id="R7e3e1987ce3c4c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52a76801784930" /><Relationship Type="http://schemas.openxmlformats.org/officeDocument/2006/relationships/notesMaster" Target="/ppt/notesMasters/notesMaster1.xml" Id="R920026a1eb3645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cf095a0db04e9d" /><Relationship Type="http://schemas.openxmlformats.org/officeDocument/2006/relationships/notesMaster" Target="/ppt/notesMasters/notesMaster1.xml" Id="Ra4d258ee375c43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a458153a514914" /><Relationship Type="http://schemas.openxmlformats.org/officeDocument/2006/relationships/notesMaster" Target="/ppt/notesMasters/notesMaster1.xml" Id="Rf5783f71e36b44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2fc00371114409" /><Relationship Type="http://schemas.openxmlformats.org/officeDocument/2006/relationships/notesMaster" Target="/ppt/notesMasters/notesMaster1.xml" Id="R42ec8ffbd3e646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5a1a89e8044f34" /><Relationship Type="http://schemas.openxmlformats.org/officeDocument/2006/relationships/notesMaster" Target="/ppt/notesMasters/notesMaster1.xml" Id="Rd258e39ef71544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41c28d378a4d3c" /><Relationship Type="http://schemas.openxmlformats.org/officeDocument/2006/relationships/notesMaster" Target="/ppt/notesMasters/notesMaster1.xml" Id="R9aee4d6c61d7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51a7f17134a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09dafc68d4e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719e57a354b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2e06b2ac2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aa92610304b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d0abdb38441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37153fba446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2ba77e23e42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1f0186c4648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cb1be1a814a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6130e7d694d1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9FF6D48-E1FB-4668-A9FC-1DE7FD0831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8776DD66-CD8E-404D-BD0C-C589C56D29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33C8947-B357-4557-962C-B62A863611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D0B65D4F-1228-4670-ADCC-C7B840B47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384E722-8EE2-4FB1-8ADC-4E3994CED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78B28698-4D09-41EE-AAA7-225EA288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B5AA2897-7ACD-4A29-BA84-D9209E6ADE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FF079967-6F5C-4259-9860-2F9B17FB9F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9CCE7978-047B-43CF-A4AA-8D5C9905E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D6E24714-E1E3-4B50-AB87-2D7EEB20BD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AF47078-F8DA-4EAE-8227-4D3458F34F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C7FE075B-8842-4FC9-B44B-CAC2DE0B7F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B27514F-7AF5-4BDD-A62D-13ED0B999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69AB7869-A18E-4A9B-BEFD-FCB5CF096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28FA2D81-00A7-4811-B8FF-C382971BC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4820AB4F-FDC6-49BD-B5C8-D2E3F618DD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20F2DB3E-4480-4C10-8AD2-A17037BF8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0FF40FCC-8EB5-4E7A-AF28-D6996EFEF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4C2A77CA-CD72-496B-B7F6-303CBBBC5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E0E8F148-55AA-4EAA-8128-6189ECD0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1D22F8AF-E084-4565-994A-4E5E222DA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A6BA614D-F1A6-4061-AA81-3492F02CA2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58FC146-A782-4EB2-9963-5B73610C34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A2E04F17-42E0-4844-A5DA-046B8E1A8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A3A151B2-7DED-45AF-849C-36F6DECE11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305F1296-D29C-4057-BD45-ADB2565037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485EFC96-F737-4F3F-8DB0-4472DC47FA7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34C7D336-54FD-40B2-9A9D-F8AF0071D6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FADAA114-7D8C-49DF-AB4F-579C58FF64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4BAEB336-0A4B-4337-9F61-E00ED3227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f65a238e4d4ca6" /><Relationship Type="http://schemas.openxmlformats.org/officeDocument/2006/relationships/slideLayout" Target="/ppt/slideLayouts/slideLayout1.xml" Id="R75645062d4d746d3" /><Relationship Type="http://schemas.openxmlformats.org/officeDocument/2006/relationships/slideLayout" Target="/ppt/slideLayouts/slideLayout2.xml" Id="R6eb5e2837f874733" /><Relationship Type="http://schemas.openxmlformats.org/officeDocument/2006/relationships/slideLayout" Target="/ppt/slideLayouts/slideLayout3.xml" Id="Rad67cba9059e4196" /><Relationship Type="http://schemas.openxmlformats.org/officeDocument/2006/relationships/slideLayout" Target="/ppt/slideLayouts/slideLayout4.xml" Id="R40366f0e4c2b4c1d" /><Relationship Type="http://schemas.openxmlformats.org/officeDocument/2006/relationships/slideLayout" Target="/ppt/slideLayouts/slideLayout5.xml" Id="R61822a70463043b4" /><Relationship Type="http://schemas.openxmlformats.org/officeDocument/2006/relationships/slideLayout" Target="/ppt/slideLayouts/slideLayout6.xml" Id="R87c69c942f124082" /><Relationship Type="http://schemas.openxmlformats.org/officeDocument/2006/relationships/slideLayout" Target="/ppt/slideLayouts/slideLayout7.xml" Id="Rd5c244ba19824b3d" /><Relationship Type="http://schemas.openxmlformats.org/officeDocument/2006/relationships/slideLayout" Target="/ppt/slideLayouts/slideLayout8.xml" Id="R17b42ef66fad4ded" /><Relationship Type="http://schemas.openxmlformats.org/officeDocument/2006/relationships/slideLayout" Target="/ppt/slideLayouts/slideLayout9.xml" Id="R2025e6027b0d484c" /><Relationship Type="http://schemas.openxmlformats.org/officeDocument/2006/relationships/slideLayout" Target="/ppt/slideLayouts/slideLayout10.xml" Id="Rb1cbf778393642d5" /><Relationship Type="http://schemas.openxmlformats.org/officeDocument/2006/relationships/slideLayout" Target="/ppt/slideLayouts/slideLayout11.xml" Id="Rfe33b6e542e64ad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AD7429C-870F-4BF7-9572-C30315316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64A0F2B6-4B6E-4F1B-A1DA-D28191B395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F11121E-C268-4408-9550-FAB342C06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45062d4d746d3"/>
    <p:sldLayoutId xmlns:r="http://schemas.openxmlformats.org/officeDocument/2006/relationships" id="2147483650" r:id="R6eb5e2837f874733"/>
    <p:sldLayoutId xmlns:r="http://schemas.openxmlformats.org/officeDocument/2006/relationships" id="2147483651" r:id="Rad67cba9059e4196"/>
    <p:sldLayoutId xmlns:r="http://schemas.openxmlformats.org/officeDocument/2006/relationships" id="2147483652" r:id="R40366f0e4c2b4c1d"/>
    <p:sldLayoutId xmlns:r="http://schemas.openxmlformats.org/officeDocument/2006/relationships" id="2147483653" r:id="R61822a70463043b4"/>
    <p:sldLayoutId xmlns:r="http://schemas.openxmlformats.org/officeDocument/2006/relationships" id="2147483654" r:id="R87c69c942f124082"/>
    <p:sldLayoutId xmlns:r="http://schemas.openxmlformats.org/officeDocument/2006/relationships" id="2147483655" r:id="Rd5c244ba19824b3d"/>
    <p:sldLayoutId xmlns:r="http://schemas.openxmlformats.org/officeDocument/2006/relationships" id="2147483656" r:id="R17b42ef66fad4ded"/>
    <p:sldLayoutId xmlns:r="http://schemas.openxmlformats.org/officeDocument/2006/relationships" id="2147483657" r:id="R2025e6027b0d484c"/>
    <p:sldLayoutId xmlns:r="http://schemas.openxmlformats.org/officeDocument/2006/relationships" id="2147483658" r:id="Rb1cbf778393642d5"/>
    <p:sldLayoutId xmlns:r="http://schemas.openxmlformats.org/officeDocument/2006/relationships" id="2147483659" r:id="Rfe33b6e542e64ad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7538c9e614e4a" /><Relationship Type="http://schemas.openxmlformats.org/officeDocument/2006/relationships/image" Target="/ppt/media/image.png" Id="R6975d7e8a55b48e2" /><Relationship Type="http://schemas.openxmlformats.org/officeDocument/2006/relationships/image" Target="/ppt/media/image2.png" Id="R4818784a99a644ef" /><Relationship Type="http://schemas.openxmlformats.org/officeDocument/2006/relationships/notesSlide" Target="/ppt/notesSlides/notesSlide1.xml" Id="R8e735e24f9ca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6d7c072454e11" /><Relationship Type="http://schemas.openxmlformats.org/officeDocument/2006/relationships/image" Target="/ppt/media/image2.png" Id="R043ad7249cc14039" /><Relationship Type="http://schemas.openxmlformats.org/officeDocument/2006/relationships/notesSlide" Target="/ppt/notesSlides/notesSlide2.xml" Id="Rd9848e11d83d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1c747a4b74113" /><Relationship Type="http://schemas.openxmlformats.org/officeDocument/2006/relationships/image" Target="/ppt/media/image3.png" Id="R10499440e57a4318" /><Relationship Type="http://schemas.openxmlformats.org/officeDocument/2006/relationships/notesSlide" Target="/ppt/notesSlides/notesSlide3.xml" Id="R311715c9de55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20feec3af4785" /><Relationship Type="http://schemas.openxmlformats.org/officeDocument/2006/relationships/image" Target="/ppt/media/image2.png" Id="R885228a5b74f4f79" /><Relationship Type="http://schemas.openxmlformats.org/officeDocument/2006/relationships/image" Target="/ppt/media/image3.png" Id="R893f0dfdf4a44761" /><Relationship Type="http://schemas.openxmlformats.org/officeDocument/2006/relationships/notesSlide" Target="/ppt/notesSlides/notesSlide4.xml" Id="Re43f1d1d509a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e9f99de754c51" /><Relationship Type="http://schemas.openxmlformats.org/officeDocument/2006/relationships/image" Target="/ppt/media/image2.png" Id="R615c90df0e7848f4" /><Relationship Type="http://schemas.openxmlformats.org/officeDocument/2006/relationships/image" Target="/ppt/media/image3.png" Id="R31458e0b9744411f" /><Relationship Type="http://schemas.openxmlformats.org/officeDocument/2006/relationships/notesSlide" Target="/ppt/notesSlides/notesSlide5.xml" Id="R7c08e2b45e1d42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2fe7f645646be" /><Relationship Type="http://schemas.openxmlformats.org/officeDocument/2006/relationships/image" Target="/ppt/media/image2.png" Id="R3b5b90b17399485c" /><Relationship Type="http://schemas.openxmlformats.org/officeDocument/2006/relationships/image" Target="/ppt/media/image3.png" Id="R4ffdc758b62042b7" /><Relationship Type="http://schemas.openxmlformats.org/officeDocument/2006/relationships/notesSlide" Target="/ppt/notesSlides/notesSlide6.xml" Id="R95036086522c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389837894a5e" /><Relationship Type="http://schemas.openxmlformats.org/officeDocument/2006/relationships/image" Target="/ppt/media/image2.png" Id="R65df6d27f654451c" /><Relationship Type="http://schemas.openxmlformats.org/officeDocument/2006/relationships/image" Target="/ppt/media/image3.png" Id="R609da0873a994610" /><Relationship Type="http://schemas.openxmlformats.org/officeDocument/2006/relationships/notesSlide" Target="/ppt/notesSlides/notesSlide7.xml" Id="Rce1edbde2303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4f62e09154fe3" /><Relationship Type="http://schemas.openxmlformats.org/officeDocument/2006/relationships/image" Target="/ppt/media/image2.png" Id="R32358ea9ccc447a7" /><Relationship Type="http://schemas.openxmlformats.org/officeDocument/2006/relationships/image" Target="/ppt/media/image3.png" Id="R69ffef4b0930428a" /><Relationship Type="http://schemas.openxmlformats.org/officeDocument/2006/relationships/notesSlide" Target="/ppt/notesSlides/notesSlide8.xml" Id="Rf846a048275d41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3c922a7074767" /><Relationship Type="http://schemas.openxmlformats.org/officeDocument/2006/relationships/image" Target="/ppt/media/image2.png" Id="R3b7eb8f2dc32430b" /><Relationship Type="http://schemas.openxmlformats.org/officeDocument/2006/relationships/image" Target="/ppt/media/image3.png" Id="Rb4573402ca79496a" /><Relationship Type="http://schemas.openxmlformats.org/officeDocument/2006/relationships/notesSlide" Target="/ppt/notesSlides/notesSlide9.xml" Id="Ra9e06b66c2e542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9825546da477d" /><Relationship Type="http://schemas.openxmlformats.org/officeDocument/2006/relationships/image" Target="/ppt/media/image2.png" Id="R41b004da23a949e8" /><Relationship Type="http://schemas.openxmlformats.org/officeDocument/2006/relationships/image" Target="/ppt/media/image3.png" Id="R6c72e5ed524d4325" /><Relationship Type="http://schemas.openxmlformats.org/officeDocument/2006/relationships/notesSlide" Target="/ppt/notesSlides/notesSlide10.xml" Id="R98f0ab90a4b6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118a2fdb04ce5" /><Relationship Type="http://schemas.openxmlformats.org/officeDocument/2006/relationships/image" Target="/ppt/media/image2.png" Id="Radd3b0ecfe3c4135" /><Relationship Type="http://schemas.openxmlformats.org/officeDocument/2006/relationships/image" Target="/ppt/media/image3.png" Id="Rce9dad4b792e4d89" /><Relationship Type="http://schemas.openxmlformats.org/officeDocument/2006/relationships/notesSlide" Target="/ppt/notesSlides/notesSlide11.xml" Id="R8e723dacd5a9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4eb56d5214bc8" /><Relationship Type="http://schemas.openxmlformats.org/officeDocument/2006/relationships/image" Target="/ppt/media/image2.png" Id="R42a53714c8d44ce7" /><Relationship Type="http://schemas.openxmlformats.org/officeDocument/2006/relationships/image" Target="/ppt/media/image3.png" Id="Rb3fa667b005a433c" /><Relationship Type="http://schemas.openxmlformats.org/officeDocument/2006/relationships/notesSlide" Target="/ppt/notesSlides/notesSlide12.xml" Id="Rf0446c6847f843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fa7f209c4e16" /><Relationship Type="http://schemas.openxmlformats.org/officeDocument/2006/relationships/image" Target="/ppt/media/image2.png" Id="R6da4e6859ef942a8" /><Relationship Type="http://schemas.openxmlformats.org/officeDocument/2006/relationships/image" Target="/ppt/media/image3.png" Id="Rfdcc851137cb4203" /><Relationship Type="http://schemas.openxmlformats.org/officeDocument/2006/relationships/notesSlide" Target="/ppt/notesSlides/notesSlide13.xml" Id="R8cbfd1834b9244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a142da7d2478f" /><Relationship Type="http://schemas.openxmlformats.org/officeDocument/2006/relationships/image" Target="/ppt/media/image2.png" Id="R66921d826bbb4c9d" /><Relationship Type="http://schemas.openxmlformats.org/officeDocument/2006/relationships/image" Target="/ppt/media/image3.png" Id="Ra12240af21ef4e71" /><Relationship Type="http://schemas.openxmlformats.org/officeDocument/2006/relationships/notesSlide" Target="/ppt/notesSlides/notesSlide14.xml" Id="Rfceb97be85494a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079dfaf584fc6" /><Relationship Type="http://schemas.openxmlformats.org/officeDocument/2006/relationships/image" Target="/ppt/media/image2.png" Id="R6d75af0d138c4367" /><Relationship Type="http://schemas.openxmlformats.org/officeDocument/2006/relationships/image" Target="/ppt/media/image3.png" Id="R540d532f806b4bfb" /><Relationship Type="http://schemas.openxmlformats.org/officeDocument/2006/relationships/notesSlide" Target="/ppt/notesSlides/notesSlide15.xml" Id="Ra37bc4140e8c43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33163e86438c" /><Relationship Type="http://schemas.openxmlformats.org/officeDocument/2006/relationships/image" Target="/ppt/media/image2.png" Id="Rff005b0bbb3a46dc" /><Relationship Type="http://schemas.openxmlformats.org/officeDocument/2006/relationships/image" Target="/ppt/media/image4.png" Id="R1413502dd86f4d79" /><Relationship Type="http://schemas.openxmlformats.org/officeDocument/2006/relationships/notesSlide" Target="/ppt/notesSlides/notesSlide16.xml" Id="Ra9e51e953f1d4b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C42A9D91-8B9F-4B21-8EA8-68D4E7CF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8947"/>
          </a:bodyPr>
          <a:lstStyle xmlns:a="http://schemas.openxmlformats.org/drawingml/2006/main">
            <a:def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Team name: ProblemSolvers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Team leader: Manoj Srinivasan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Team members: Murali Krishna Reddy Gajulapalli, Sushil Subedi, Vasanth K Potturu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111111"/>
                </a:solidFill>
                <a:latin typeface="Google Sans Flex"/>
                <a:ea typeface="Google Sans Flex"/>
                <a:cs typeface="Google Sans Flex"/>
              </a:rPr>
              <a:t>Project: RescueFlow AI by FoodBridge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F0217EEF-2A7B-46A2-B3A0-69C27183B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5d7e8a55b48e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AD05118B-2875-4A07-9B4C-8AF2A03A4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18784a99a644e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00754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3932D7D3-0753-4F1A-A8FC-9CF9F0BCE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3ad7249cc1403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365F51ED-6EDA-4CFE-9C55-A9AE0A8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D83157BC-D4C5-455B-957B-7E0347A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64" name="Problem slide background">
            <a:extLst xmlns:a="http://schemas.openxmlformats.org/drawingml/2006/main">
              <a:ext uri="{FF2B5EF4-FFF2-40B4-BE49-F238E27FC236}">
                <a16:creationId xmlns:a16="http://schemas.microsoft.com/office/drawing/2014/main" id="{43495036-D7CA-4F95-BAE6-30C7248A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62000"/>
            <a:ext cx="828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EA43C4EA-84D3-4FE2-87C1-16D0194B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THE RECOVERY GAP</a:t>
            </a:r>
          </a:p>
        </p:txBody>
      </p:sp>
      <p:sp>
        <p:nvSpPr>
          <p:cNvPr id="66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64551F80-09A8-4731-8909-9CA7DAC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Surplus food is time-sensitive. A decline, capacity mismatch, or unanswered invitation can leave safe food unclaimed while the pickup deadline approaches.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RescueFlow continues matching after the first offer and routes remaining portions to the next feasible recipient.</a:t>
            </a:r>
          </a:p>
        </p:txBody>
      </p:sp>
    </p:spTree>
    <p:extLst>
      <p:ext uri="{BB962C8B-B14F-4D97-AF65-F5344CB8AC3E}">
        <p14:creationId xmlns:p14="http://schemas.microsoft.com/office/powerpoint/2010/main" val="6921734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10F2B9A-66AC-46E4-AE98-5190FF029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99440e57a431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58DC868B-2B44-4FC3-BF72-B84D2EC3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4A787052-15E1-442E-8E98-7743B315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RescueFlow AI by FoodBridge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57AEBE36-69E0-4D9A-B691-E0E872E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2296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An AI-assisted surplus food recovery workflow for donors and recipient organizations.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Donors publish prepared food with portions, dietary details, pickup location, and a deadline. RescueFlow finds eligible recipients, ranks feasible offers, and keeps rematching any quantity that remains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The system combines deterministic allocation rules with Gemini-generated explanations. The model explains decisions; it does not decide eligibility or allocate food.</a:t>
            </a:r>
          </a:p>
        </p:txBody>
      </p:sp>
    </p:spTree>
    <p:extLst>
      <p:ext uri="{BB962C8B-B14F-4D97-AF65-F5344CB8AC3E}">
        <p14:creationId xmlns:p14="http://schemas.microsoft.com/office/powerpoint/2010/main" val="11320406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E2395905-A7D6-48F5-9B25-7577E03A4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5228a5b74f4f7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B925E6B-3C1C-42D1-A114-231A06494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f0dfdf4a447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7597AE38-6C7B-4C43-8637-3342644E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2CB41B7F-72FF-46B9-9C8D-B3A33033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SemiBold"/>
                <a:ea typeface="Google Sans Flex SemiBold"/>
                <a:cs typeface="Google Sans Flex SemiBold"/>
              </a:rPr>
              <a:t>Opportunity and differentiation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D2C14ABC-4111-4903-BB77-4C7ADDE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THE CHALLENGE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single unanswered or declined offer can stall a donation even when other recipients could collect it in time. Manual follow-up also makes it difficult to track partial quantities and pickup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OUR APPROACH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Filter for recipient eligibility, capacity, food preferences, and pickup timing.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Rank feasible offers using a transparent score: deadline 35%, capacity 30%, distance 20%, preferences 15%. Distance is a synthetic demo estimate, not live routing.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Revalidate and reserve portions on acceptance; a decline does not consume stock.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Expire timed-out offers and rematch remaining portions before the pickup deadline.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USP: explainable recovery with auditable state changes and pickup tracking kept separate from allocation.</a:t>
            </a:r>
          </a:p>
        </p:txBody>
      </p:sp>
    </p:spTree>
    <p:extLst>
      <p:ext uri="{BB962C8B-B14F-4D97-AF65-F5344CB8AC3E}">
        <p14:creationId xmlns:p14="http://schemas.microsoft.com/office/powerpoint/2010/main" val="18842908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FEEC39E1-87B7-42C1-8A9A-7CC2AFF21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5c90df0e7848f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5866CC8D-27E9-4A22-B3F3-6AF545540E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58e0b974441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B9210AA5-AFC4-4724-BA67-5B9F72B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7528DB95-CF18-4930-8706-3E59756B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03219898-318D-45CD-90A1-2528858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01  Donation publishing — food type, quantity, dietary details, pickup location, and deadline.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02  Eligibility and ranking — hard filters first, then a weighted feasibility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03  Safe portion allocation — acceptance revalidates stock and recipient capacity before reserving.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04  Recovery loop — declines and expired invitations return the remaining quantity to matching; a scheduled worker handles timeouts.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05  Pickup tracking — confirmation and completion are recorded after allocation.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06  Operations and trust — admin recovery queue, audit events, recipient review, and donor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07  AI explanations — Gemini summarizes why an offer is feasible; matching remains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16398519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691E62BE-0184-4885-9901-DEE7E9AA3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5b90b17399485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E30C3314-3356-4AEA-96A8-6D239DB03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dc758b62042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5E4A27BE-7CCD-4543-A084-7E6C2AE2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E2A8A076-BA4E-43B0-984B-6BDA42D3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Donation, response, and rematch flow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Publish">
            <a:extLst xmlns:a="http://schemas.openxmlformats.org/drawingml/2006/main">
              <a:ext uri="{FF2B5EF4-FFF2-40B4-BE49-F238E27FC236}">
                <a16:creationId xmlns:a16="http://schemas.microsoft.com/office/drawing/2014/main" id="{9B079F4A-9428-45F6-967B-33F3110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97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75A42FE4-471E-4933-81F4-8BA5C3B9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Publish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Donor posts surplus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with pickup deadline</a:t>
            </a:r>
          </a:p>
        </p:txBody>
      </p:sp>
      <p:sp>
        <p:nvSpPr>
          <p:cNvPr id="98" name="Find &amp; rank">
            <a:extLst xmlns:a="http://schemas.openxmlformats.org/drawingml/2006/main">
              <a:ext uri="{FF2B5EF4-FFF2-40B4-BE49-F238E27FC236}">
                <a16:creationId xmlns:a16="http://schemas.microsoft.com/office/drawing/2014/main" id="{5E9AA636-F5C6-4C19-A569-EF1B6D3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76375"/>
            <a:ext cx="1857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99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CDDA1414-E4F4-4833-AD62-00FBE55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52575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Find &amp; rank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Filter eligible recipients;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rank feasible offers</a:t>
            </a:r>
          </a:p>
        </p:txBody>
      </p:sp>
      <p:sp>
        <p:nvSpPr>
          <p:cNvPr id="100" name="Invite">
            <a:extLst xmlns:a="http://schemas.openxmlformats.org/drawingml/2006/main">
              <a:ext uri="{FF2B5EF4-FFF2-40B4-BE49-F238E27FC236}">
                <a16:creationId xmlns:a16="http://schemas.microsoft.com/office/drawing/2014/main" id="{36AF9479-5215-4434-8CFE-014CFDF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7637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1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43D56A17-69BF-4B00-B56C-46B399EB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525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03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Invite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Send offer with quantity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and response deadline</a:t>
            </a:r>
          </a:p>
        </p:txBody>
      </p:sp>
      <p:sp>
        <p:nvSpPr>
          <p:cNvPr id="102" name="Recipient response">
            <a:extLst xmlns:a="http://schemas.openxmlformats.org/drawingml/2006/main">
              <a:ext uri="{FF2B5EF4-FFF2-40B4-BE49-F238E27FC236}">
                <a16:creationId xmlns:a16="http://schemas.microsoft.com/office/drawing/2014/main" id="{B7D9E045-8543-436B-AAD7-A8CC977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76375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3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E800E9DB-65BB-43A4-AFCD-F262CB4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525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Recipient response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Accept, decline,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or time out</a:t>
            </a:r>
          </a:p>
        </p:txBody>
      </p:sp>
      <p:sp>
        <p:nvSpPr>
          <p:cNvPr id="104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F3956A2C-E91B-4810-B915-517C73A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478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359"/>
          </a:bodyPr>
          <a:lstStyle xmlns:a="http://schemas.openxmlformats.org/drawingml/2006/main">
            <a:def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→</a:t>
            </a:r>
          </a:p>
        </p:txBody>
      </p:sp>
      <p:sp>
        <p:nvSpPr>
          <p:cNvPr id="105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2FD8C539-72C7-4EA4-86F7-BFAE596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359"/>
          </a:bodyPr>
          <a:lstStyle xmlns:a="http://schemas.openxmlformats.org/drawingml/2006/main">
            <a:def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→</a:t>
            </a:r>
          </a:p>
        </p:txBody>
      </p:sp>
      <p:sp>
        <p:nvSpPr>
          <p:cNvPr id="106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81A971F1-5A07-4833-97C8-28EAC5D5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478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359"/>
          </a:bodyPr>
          <a:lstStyle xmlns:a="http://schemas.openxmlformats.org/drawingml/2006/main">
            <a:def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→</a:t>
            </a:r>
          </a:p>
        </p:txBody>
      </p:sp>
      <p:sp>
        <p:nvSpPr>
          <p:cNvPr id="107" name="Accept">
            <a:extLst xmlns:a="http://schemas.openxmlformats.org/drawingml/2006/main">
              <a:ext uri="{FF2B5EF4-FFF2-40B4-BE49-F238E27FC236}">
                <a16:creationId xmlns:a16="http://schemas.microsoft.com/office/drawing/2014/main" id="{31AE1A97-3A22-4B57-AB0E-CC53ED4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33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EFE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8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F8449320-2C09-4F21-8884-511D8ACB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66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Accept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Revalidate quantity and capacity;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reserve portions</a:t>
            </a:r>
          </a:p>
        </p:txBody>
      </p:sp>
      <p:sp>
        <p:nvSpPr>
          <p:cNvPr id="109" name="Pickup">
            <a:extLst xmlns:a="http://schemas.openxmlformats.org/drawingml/2006/main">
              <a:ext uri="{FF2B5EF4-FFF2-40B4-BE49-F238E27FC236}">
                <a16:creationId xmlns:a16="http://schemas.microsoft.com/office/drawing/2014/main" id="{F95BC8A4-175A-4C0A-B3A4-81C601B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33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EFE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10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E8D3C9D6-BAD1-410E-9E5F-6C76F5F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9082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Pickup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Track confirmation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and completion separately</a:t>
            </a:r>
          </a:p>
        </p:txBody>
      </p:sp>
      <p:sp>
        <p:nvSpPr>
          <p:cNvPr id="111" name="Decline / timeout">
            <a:extLst xmlns:a="http://schemas.openxmlformats.org/drawingml/2006/main">
              <a:ext uri="{FF2B5EF4-FFF2-40B4-BE49-F238E27FC236}">
                <a16:creationId xmlns:a16="http://schemas.microsoft.com/office/drawing/2014/main" id="{34E10946-E2E0-48F3-93AB-63A00B5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2524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12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367083A4-2F46-476B-9CB2-9153200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Decline / timeout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Record response or expire offer;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keep unaccepted stock available</a:t>
            </a:r>
          </a:p>
        </p:txBody>
      </p:sp>
      <p:sp>
        <p:nvSpPr>
          <p:cNvPr id="113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EC1C6C18-4A9E-430B-B707-ECA1EDBA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062"/>
          </a:bodyPr>
          <a:lstStyle xmlns:a="http://schemas.openxmlformats.org/drawingml/2006/main">
            <a:def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If portions remain and the deadline is open: recalculate feasible allocations → rank → invite the next recipient.</a:t>
            </a:r>
          </a:p>
          <a:p xmlns:a="http://schemas.openxmlformats.org/drawingml/2006/main">
            <a:pPr algn="ctr">
              <a:def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If the pickup deadline passes: expire the remaining quantity. No response path silently marks pickup complete.</a:t>
            </a:r>
          </a:p>
        </p:txBody>
      </p:sp>
    </p:spTree>
    <p:extLst>
      <p:ext uri="{BB962C8B-B14F-4D97-AF65-F5344CB8AC3E}">
        <p14:creationId xmlns:p14="http://schemas.microsoft.com/office/powerpoint/2010/main" val="14633271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50D1E2F4-D8C1-421E-9EB1-86DB537CF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df6d27f654451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AC4A9928-FEA8-412F-AE60-04023F38D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da0873a9946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180B95BA-239E-4D1E-A310-031192AC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B08C8ECA-1829-48EF-AA45-93C24937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Workspaces and primary use cases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Donor workspace">
            <a:extLst xmlns:a="http://schemas.openxmlformats.org/drawingml/2006/main">
              <a:ext uri="{FF2B5EF4-FFF2-40B4-BE49-F238E27FC236}">
                <a16:creationId xmlns:a16="http://schemas.microsoft.com/office/drawing/2014/main" id="{12E599AD-8E20-4F28-9028-2D383365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5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46B97272-638B-4244-BC19-851F90A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Donor workspace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Publish a donation, set pickup details, review active offers, and follow allocation and pickup status.</a:t>
            </a:r>
          </a:p>
        </p:txBody>
      </p:sp>
      <p:sp>
        <p:nvSpPr>
          <p:cNvPr id="106" name="Recipient workspace">
            <a:extLst xmlns:a="http://schemas.openxmlformats.org/drawingml/2006/main">
              <a:ext uri="{FF2B5EF4-FFF2-40B4-BE49-F238E27FC236}">
                <a16:creationId xmlns:a16="http://schemas.microsoft.com/office/drawing/2014/main" id="{615EEC38-C43A-4F6A-85F0-5AADF99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7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A27E9BBE-7958-43DF-9821-B153C1E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Recipient workspace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Review ranked invitations, see suggested quantities and capacity, then accept or decline before the response deadline.</a:t>
            </a:r>
          </a:p>
        </p:txBody>
      </p:sp>
      <p:sp>
        <p:nvSpPr>
          <p:cNvPr id="108" name="Admin dashboard">
            <a:extLst xmlns:a="http://schemas.openxmlformats.org/drawingml/2006/main">
              <a:ext uri="{FF2B5EF4-FFF2-40B4-BE49-F238E27FC236}">
                <a16:creationId xmlns:a16="http://schemas.microsoft.com/office/drawing/2014/main" id="{1B047955-997B-4C62-BA5F-2B66A9D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716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09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D3776C39-0CB3-4257-96FF-C0B41146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47825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Admin dashboard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Monitor recovery queue and audit history, inspect rematches, and review donor feedback and operating status.</a:t>
            </a:r>
          </a:p>
        </p:txBody>
      </p:sp>
      <p:sp>
        <p:nvSpPr>
          <p:cNvPr id="110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416EBBEF-99CF-4059-8A4E-63644D09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The deployed prototype link is provided on the links slide. These are workflow summaries, not product screenshots.</a:t>
            </a:r>
          </a:p>
        </p:txBody>
      </p:sp>
    </p:spTree>
    <p:extLst>
      <p:ext uri="{BB962C8B-B14F-4D97-AF65-F5344CB8AC3E}">
        <p14:creationId xmlns:p14="http://schemas.microsoft.com/office/powerpoint/2010/main" val="13502916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7F70CC3E-C400-4B26-96BF-CCF8237FF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358ea9ccc447a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41DCA59D-71A4-4BC8-A4A1-EA5B3A170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ef4b0930428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79A37895-925E-403E-B973-015FF00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DBCC7F6E-D398-4531-81ED-9D1809B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RescueFlow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React + TypeScript UI">
            <a:extLst xmlns:a="http://schemas.openxmlformats.org/drawingml/2006/main">
              <a:ext uri="{FF2B5EF4-FFF2-40B4-BE49-F238E27FC236}">
                <a16:creationId xmlns:a16="http://schemas.microsoft.com/office/drawing/2014/main" id="{A7611694-EBDE-46EB-ACE6-C1DECB9B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13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267953B0-C117-4785-AC5E-FA2F12FB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React + TypeScript UI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Donor • Recipient • Admin workspaces</a:t>
            </a:r>
          </a:p>
        </p:txBody>
      </p:sp>
      <p:sp>
        <p:nvSpPr>
          <p:cNvPr id="114" name="FastAPI service on Cloud Run">
            <a:extLst xmlns:a="http://schemas.openxmlformats.org/drawingml/2006/main">
              <a:ext uri="{FF2B5EF4-FFF2-40B4-BE49-F238E27FC236}">
                <a16:creationId xmlns:a16="http://schemas.microsoft.com/office/drawing/2014/main" id="{A28434B1-82B5-477F-8780-871A80F8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15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8DAF8828-6834-453C-A1D2-B180860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FastAPI service on Cloud Run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REST API • validation • audit events</a:t>
            </a:r>
          </a:p>
        </p:txBody>
      </p:sp>
      <p:sp>
        <p:nvSpPr>
          <p:cNvPr id="116" name="Cloud SQL PostgreSQL">
            <a:extLst xmlns:a="http://schemas.openxmlformats.org/drawingml/2006/main">
              <a:ext uri="{FF2B5EF4-FFF2-40B4-BE49-F238E27FC236}">
                <a16:creationId xmlns:a16="http://schemas.microsoft.com/office/drawing/2014/main" id="{927F4979-E1A8-4F2E-BA2E-DE41279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17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25AF113D-86BD-48E5-95AB-7AF43D9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16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SQL PostgreSQL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Donations • recipients • invitations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allocations • reviews • audit log</a:t>
            </a:r>
          </a:p>
        </p:txBody>
      </p:sp>
      <p:sp>
        <p:nvSpPr>
          <p:cNvPr id="118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1F07194F-73AA-420C-832A-AAA54DC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70497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359"/>
          </a:bodyPr>
          <a:lstStyle xmlns:a="http://schemas.openxmlformats.org/drawingml/2006/main">
            <a:def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→</a:t>
            </a:r>
          </a:p>
        </p:txBody>
      </p:sp>
      <p:sp>
        <p:nvSpPr>
          <p:cNvPr id="119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12F31773-9761-4FA9-B6F4-95C4AA5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70497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359"/>
          </a:bodyPr>
          <a:lstStyle xmlns:a="http://schemas.openxmlformats.org/drawingml/2006/main">
            <a:def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→</a:t>
            </a:r>
          </a:p>
        </p:txBody>
      </p:sp>
      <p:sp>
        <p:nvSpPr>
          <p:cNvPr id="120" name="Deterministic matching">
            <a:extLst xmlns:a="http://schemas.openxmlformats.org/drawingml/2006/main">
              <a:ext uri="{FF2B5EF4-FFF2-40B4-BE49-F238E27FC236}">
                <a16:creationId xmlns:a16="http://schemas.microsoft.com/office/drawing/2014/main" id="{B7882B2A-E245-486D-A3A4-EC2E2FD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21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CE21526B-FCB9-4963-8A8C-EA4A51C9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41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Deterministic matching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Eligibility filters, weighted ranking,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revalidation, and portion reservation</a:t>
            </a:r>
          </a:p>
        </p:txBody>
      </p:sp>
      <p:sp>
        <p:nvSpPr>
          <p:cNvPr id="122" name="Vertex AI Gemini">
            <a:extLst xmlns:a="http://schemas.openxmlformats.org/drawingml/2006/main">
              <a:ext uri="{FF2B5EF4-FFF2-40B4-BE49-F238E27FC236}">
                <a16:creationId xmlns:a16="http://schemas.microsoft.com/office/drawing/2014/main" id="{1E81FC3A-714E-40DC-945F-2F7F2B5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23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3788E981-4628-4A36-B2AB-6CAF5FF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72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Gemini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Optional, bounded explanation of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ranked matches and recovery state</a:t>
            </a:r>
          </a:p>
        </p:txBody>
      </p:sp>
      <p:sp>
        <p:nvSpPr>
          <p:cNvPr id="124" name="Timeout worker">
            <a:extLst xmlns:a="http://schemas.openxmlformats.org/drawingml/2006/main">
              <a:ext uri="{FF2B5EF4-FFF2-40B4-BE49-F238E27FC236}">
                <a16:creationId xmlns:a16="http://schemas.microsoft.com/office/drawing/2014/main" id="{4299D4C7-2DB7-416A-AE17-CAB80B5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524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25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37588BC7-D12E-4C24-9746-3EF3405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29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Timeout worker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Job invoked by Cloud Scheduler;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expires due invitations and rematches</a:t>
            </a:r>
          </a:p>
        </p:txBody>
      </p:sp>
      <p:sp>
        <p:nvSpPr>
          <p:cNvPr id="126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6F963BA8-923E-4829-BEE0-3B83102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Matching writes are guarded by database transactions/locking. The timeout worker uses the same backend image and database configuration. Gemini is an explanation layer, not the allocation authority.</a:t>
            </a:r>
          </a:p>
        </p:txBody>
      </p:sp>
    </p:spTree>
    <p:extLst>
      <p:ext uri="{BB962C8B-B14F-4D97-AF65-F5344CB8AC3E}">
        <p14:creationId xmlns:p14="http://schemas.microsoft.com/office/powerpoint/2010/main" val="18211680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5C37712F-8A63-44F9-B6ED-A639E77B9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7eb8f2dc32430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E4104D0F-FE80-417B-A478-4709178772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73402ca79496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B7379ABA-4949-4410-B93C-41F007A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C37FB44B-4E49-449A-B749-6534555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Technology stack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11A34D64-0F43-4701-9340-DA3647C0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7715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406"/>
          </a:bodyPr>
          <a:lstStyle xmlns:a="http://schemas.openxmlformats.org/drawingml/2006/main">
            <a:def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FRONT END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React · TypeScript · Vite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BACK END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Python · FastAPI · SQLAlchemy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DATA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PostgreSQL on Cloud SQL; SQLite supports local/demo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Gemini for concise, grounded explanations. Deterministic backend logic owns matching and reservation.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DEPLOYMENT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API service · Cloud Run timeout job · Cloud Scheduler · Artifact Registry · Secret Manager</a:t>
            </a:r>
          </a:p>
        </p:txBody>
      </p:sp>
    </p:spTree>
    <p:extLst>
      <p:ext uri="{BB962C8B-B14F-4D97-AF65-F5344CB8AC3E}">
        <p14:creationId xmlns:p14="http://schemas.microsoft.com/office/powerpoint/2010/main" val="2194527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30C2E2C5-DB94-4D03-B1A4-B671DA4F4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b004da23a949e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932CA4AD-F1A0-40F4-B66E-17644E06F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e5ed524d43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43BC182A-E964-4508-9073-86BA50F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694ADEE1-98B4-49BF-A871-E4515963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cost model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724A3288-148B-42CE-A48B-5F34323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771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Usage-based components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Cloud Run API and timeout job compute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Cloud SQL instance and storage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Vertex AI Gemini calls when an explanation is requested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Cloud Scheduler executions and supporting logging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verified bill of materials or measured monthly spend is available for this prototype. Before a pilot, enable billing reports and measure traffic, database sizing, and Gemini usage against the expected donation volume.</a:t>
            </a:r>
          </a:p>
        </p:txBody>
      </p:sp>
    </p:spTree>
    <p:extLst>
      <p:ext uri="{BB962C8B-B14F-4D97-AF65-F5344CB8AC3E}">
        <p14:creationId xmlns:p14="http://schemas.microsoft.com/office/powerpoint/2010/main" val="1936820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F7B5BE01-19AE-4B15-BF80-64C118962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d3b0ecfe3c413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E90DB1C6-64E0-4AF4-837A-4CDDDC423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dad4b792e4d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1B370934-58AE-4C7A-B9D6-CB8B415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2C8F3F83-764E-43E0-8562-A9C41E88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workflows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36" name="Publish &amp; match">
            <a:extLst xmlns:a="http://schemas.openxmlformats.org/drawingml/2006/main">
              <a:ext uri="{FF2B5EF4-FFF2-40B4-BE49-F238E27FC236}">
                <a16:creationId xmlns:a16="http://schemas.microsoft.com/office/drawing/2014/main" id="{914BDC62-9976-40A5-A27D-2B7AB2D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37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D8BEB9C6-359C-42DB-A01F-918BCB6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190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Publish &amp; match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Create donation → filter and rank eligible recipients → issue a portion offer.</a:t>
            </a:r>
          </a:p>
        </p:txBody>
      </p:sp>
      <p:sp>
        <p:nvSpPr>
          <p:cNvPr id="138" name="Respond &amp; reserve">
            <a:extLst xmlns:a="http://schemas.openxmlformats.org/drawingml/2006/main">
              <a:ext uri="{FF2B5EF4-FFF2-40B4-BE49-F238E27FC236}">
                <a16:creationId xmlns:a16="http://schemas.microsoft.com/office/drawing/2014/main" id="{69133412-A6F0-4168-8CA8-90E7A915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39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25F4B621-418A-44F6-AC19-4E9B279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47825"/>
            <a:ext cx="2190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Respond &amp; reserve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Recipient accepts or declines → revalidate capacity and remaining portions → record result.</a:t>
            </a:r>
          </a:p>
        </p:txBody>
      </p:sp>
      <p:sp>
        <p:nvSpPr>
          <p:cNvPr id="140" name="Recover &amp; complete">
            <a:extLst xmlns:a="http://schemas.openxmlformats.org/drawingml/2006/main">
              <a:ext uri="{FF2B5EF4-FFF2-40B4-BE49-F238E27FC236}">
                <a16:creationId xmlns:a16="http://schemas.microsoft.com/office/drawing/2014/main" id="{350274B8-BA5C-499C-A3DC-999EE5D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71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C7D9E8"/>
            </a:solidFill>
            <a:prstDash val="solid"/>
          </a:ln>
        </p:spPr>
      </p:sp>
      <p:sp>
        <p:nvSpPr>
          <p:cNvPr id="141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E7C68E4A-1517-47CD-A1C2-EC6616A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47825"/>
            <a:ext cx="2190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Recover &amp; complete</a:t>
            </a:r>
          </a:p>
          <a:p xmlns:a="http://schemas.openxmlformats.org/drawingml/2006/main"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Timeout job rematches remaining portions → donor/recipient track pickup completion.</a:t>
            </a:r>
          </a:p>
        </p:txBody>
      </p:sp>
      <p:sp>
        <p:nvSpPr>
          <p:cNvPr id="142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35652839-0D01-47F8-87BA-183BDA7C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rPr>
              <a:t>Live prototype: foodbridge-ui-pfkvaq3icq-el.a.run.app</a:t>
            </a:r>
          </a:p>
          <a:p xmlns:a="http://schemas.openxmlformats.org/drawingml/2006/main">
            <a:pPr algn="ctr">
              <a:def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3C4043"/>
                </a:solidFill>
                <a:latin typeface="Google Sans Flex"/>
                <a:ea typeface="Google Sans Flex"/>
                <a:cs typeface="Google Sans Flex"/>
              </a:rPr>
              <a:t>The repository and product links are on the next slides. Add original product screenshots before final submission if the event reviewer requires visual evidence.</a:t>
            </a:r>
          </a:p>
        </p:txBody>
      </p:sp>
    </p:spTree>
    <p:extLst>
      <p:ext uri="{BB962C8B-B14F-4D97-AF65-F5344CB8AC3E}">
        <p14:creationId xmlns:p14="http://schemas.microsoft.com/office/powerpoint/2010/main" val="18926057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E3509BE9-8402-4A81-A99E-01751BB73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a53714c8d44ce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ED6BB6E2-858C-4212-86CF-079AF5055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a667b005a43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C30E374E-03AE-43EE-8B8A-4349696E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DD7E890B-FF93-4811-862A-B1C8F4EF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Reliability evidence and benchmark status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51BD609C-8B89-4F11-8F40-7B7B95E1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848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FUNCTIONAL SAFEGUARDS</a:t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Allocation is revalidated against remaining stock and recipient capacity.</a:t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Declines and expired invitations preserve unaccepted portions for rematching.</a:t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Pickup completion remains a separate state from allocation.</a:t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Audit events record donation, invitation, response, and recovery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BENCHMARK STATUS</a:t>
            </a:r>
          </a:p>
          <a:p xmlns:a="http://schemas.openxmlformats.org/drawingml/2006/main">
            <a:pPr algn="l">
              <a:def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formal latency, throughput, or load-test results are available yet. The current demo uses synthetic recipient profiles and synthetic distance estimates. A pilot should measure API latency, timeout sweep duration, rematch success, accepted portions, and completed pickups.</a:t>
            </a:r>
          </a:p>
        </p:txBody>
      </p:sp>
    </p:spTree>
    <p:extLst>
      <p:ext uri="{BB962C8B-B14F-4D97-AF65-F5344CB8AC3E}">
        <p14:creationId xmlns:p14="http://schemas.microsoft.com/office/powerpoint/2010/main" val="20394854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A0B487C4-AED4-4BA5-85D6-DFFBFD25E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a4e6859ef942a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35AAD977-1C60-4A05-B18E-11DB66F8A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c851137cb42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10FF1ED3-6B3E-4728-883B-8F85938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3121AD45-211A-451F-A899-49E1151C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Next development steps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BFD537E1-6747-4C05-B498-8AE49925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7715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  Replace synthetic distance with live routing and pickup-time estimates.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  Add reliable email/SMS notifications and recipient response reminders.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3  Strengthen production identity, organization onboarding, and role-based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  Run a small donor/recipient pilot; measure portions offered, accepted, picked up, and recovered after a decline or timeout.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  Improve operational monitoring for scheduled sweeps, Gemini availability, and database health.</a:t>
            </a:r>
          </a:p>
        </p:txBody>
      </p:sp>
    </p:spTree>
    <p:extLst>
      <p:ext uri="{BB962C8B-B14F-4D97-AF65-F5344CB8AC3E}">
        <p14:creationId xmlns:p14="http://schemas.microsoft.com/office/powerpoint/2010/main" val="6387477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E5640CF8-CA6D-4459-B9CE-1AED4E8DF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921d826bbb4c9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0A19F3B6-4E56-4DED-B5B9-577D01EA9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240af21ef4e7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7F801923-D941-449E-AB47-D228D442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E9E20CBB-FECF-49C2-9510-7FB69BC3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>
                <a:latin typeface="Google Sans Flex Medium"/>
                <a:ea typeface="Google Sans Flex Medium"/>
                <a:cs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>
                <a:latin typeface="Google Sans Flex Medium"/>
                <a:ea typeface="Google Sans Flex Medium"/>
                <a:cs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>
                <a:latin typeface="Google Sans Flex Medium"/>
                <a:ea typeface="Google Sans Flex Medium"/>
                <a:cs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Links content background">
            <a:extLst xmlns:a="http://schemas.openxmlformats.org/drawingml/2006/main">
              <a:ext uri="{FF2B5EF4-FFF2-40B4-BE49-F238E27FC236}">
                <a16:creationId xmlns:a16="http://schemas.microsoft.com/office/drawing/2014/main" id="{D6C47E41-47D0-446F-8EA1-66846013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9144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1636BDD2-B2F8-429F-9398-E02B5E88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675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Project links</a:t>
            </a:r>
          </a:p>
        </p:txBody>
      </p:sp>
      <p:sp>
        <p:nvSpPr>
          <p:cNvPr id="162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241FF27B-BC46-4E37-9905-46967A29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790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GitHub repository</a:t>
            </a:r>
          </a:p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https://github.com/murali7032/RescueFlow-AI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Live prototype</a:t>
            </a:r>
          </a:p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https://foodbridge-ui-pfkvaq3icq-el.a.run.app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Demo video (3 minutes)</a:t>
            </a:r>
          </a:p>
          <a:p xmlns:a="http://schemas.openxmlformats.org/drawingml/2006/main">
            <a:pPr algn="l">
              <a:def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Add the recorded demo URL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81809776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CF6DD61B-6DCF-41C5-A778-A5454CA27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75af0d138c436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AD6E004E-ECD7-46E5-BEBC-4DB977263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d532f806b4bf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182D3024-3406-46B7-9360-9E3C7747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7DB495B9-D493-423A-903D-D1C474C7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72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Pilot success measures</a:t>
            </a:r>
          </a:p>
        </p:txBody>
      </p:sp>
      <p:sp>
        <p:nvSpPr>
          <p:cNvPr id="168" name="Submission content">
            <a:extLst xmlns:a="http://schemas.openxmlformats.org/drawingml/2006/main">
              <a:ext uri="{FF2B5EF4-FFF2-40B4-BE49-F238E27FC236}">
                <a16:creationId xmlns:a16="http://schemas.microsoft.com/office/drawing/2014/main" id="{6DD91C5C-4828-434B-9544-FB841E43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7715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Track these outcomes during a real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Portions offered, accepted, and confirmed picked up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Share of declined or timed-out offers successfully rematched before deadline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Time from donation publication to accepted allocation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Pickup completion rate and reasons for failed collection</a:t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• Donor and recipient feedback over repeat uses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These are proposed measures; no real-world impact results are claimed yet.</a:t>
            </a:r>
          </a:p>
        </p:txBody>
      </p:sp>
    </p:spTree>
    <p:extLst>
      <p:ext uri="{BB962C8B-B14F-4D97-AF65-F5344CB8AC3E}">
        <p14:creationId xmlns:p14="http://schemas.microsoft.com/office/powerpoint/2010/main" val="20949348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F17DEEB-A196-4971-90B1-90A62B956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005b0bbb3a46d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51D7B5E5-B6BB-4F78-BEDA-C8E5693F1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3502dd86f4d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2331304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2026-10-18T14:12:13.2730000Z</dcterms:created>
  <dcterms:modified xsi:type="dcterms:W3CDTF">2026-10-18T14:12:13.2730000Z</dcterms:modified>
</coreProperties>
</file>